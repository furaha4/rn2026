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35"/>
  </p:notesMasterIdLst>
  <p:handoutMasterIdLst>
    <p:handoutMasterId r:id="rId36"/>
  </p:handoutMasterIdLst>
  <p:sldIdLst>
    <p:sldId id="256" r:id="rId2"/>
    <p:sldId id="296" r:id="rId3"/>
    <p:sldId id="342" r:id="rId4"/>
    <p:sldId id="343" r:id="rId5"/>
    <p:sldId id="300" r:id="rId6"/>
    <p:sldId id="350" r:id="rId7"/>
    <p:sldId id="310" r:id="rId8"/>
    <p:sldId id="336" r:id="rId9"/>
    <p:sldId id="337" r:id="rId10"/>
    <p:sldId id="347" r:id="rId11"/>
    <p:sldId id="338" r:id="rId12"/>
    <p:sldId id="333" r:id="rId13"/>
    <p:sldId id="334" r:id="rId14"/>
    <p:sldId id="335" r:id="rId15"/>
    <p:sldId id="306" r:id="rId16"/>
    <p:sldId id="323" r:id="rId17"/>
    <p:sldId id="307" r:id="rId18"/>
    <p:sldId id="308" r:id="rId19"/>
    <p:sldId id="309" r:id="rId20"/>
    <p:sldId id="340" r:id="rId21"/>
    <p:sldId id="341" r:id="rId22"/>
    <p:sldId id="304" r:id="rId23"/>
    <p:sldId id="349" r:id="rId24"/>
    <p:sldId id="345" r:id="rId25"/>
    <p:sldId id="344" r:id="rId26"/>
    <p:sldId id="311" r:id="rId27"/>
    <p:sldId id="316" r:id="rId28"/>
    <p:sldId id="320" r:id="rId29"/>
    <p:sldId id="339" r:id="rId30"/>
    <p:sldId id="322" r:id="rId31"/>
    <p:sldId id="318" r:id="rId32"/>
    <p:sldId id="330" r:id="rId33"/>
    <p:sldId id="331" r:id="rId34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4CF"/>
    <a:srgbClr val="1B7EE1"/>
    <a:srgbClr val="1973CD"/>
    <a:srgbClr val="1666B6"/>
    <a:srgbClr val="0C66C0"/>
    <a:srgbClr val="0066CC"/>
    <a:srgbClr val="0099FF"/>
    <a:srgbClr val="186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94128" autoAdjust="0"/>
  </p:normalViewPr>
  <p:slideViewPr>
    <p:cSldViewPr snapToGrid="0">
      <p:cViewPr varScale="1">
        <p:scale>
          <a:sx n="65" d="100"/>
          <a:sy n="65" d="100"/>
        </p:scale>
        <p:origin x="-1416" y="-108"/>
      </p:cViewPr>
      <p:guideLst>
        <p:guide orient="horz" pos="669"/>
        <p:guide pos="2880"/>
        <p:guide pos="332"/>
      </p:guideLst>
    </p:cSldViewPr>
  </p:slideViewPr>
  <p:outlineViewPr>
    <p:cViewPr>
      <p:scale>
        <a:sx n="33" d="100"/>
        <a:sy n="33" d="100"/>
      </p:scale>
      <p:origin x="0" y="295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1680" y="-72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t" anchorCtr="0" compatLnSpc="1">
            <a:prstTxWarp prst="textNoShape">
              <a:avLst/>
            </a:prstTxWarp>
          </a:bodyPr>
          <a:lstStyle>
            <a:lvl1pPr defTabSz="956930" eaLnBrk="0" hangingPunct="0">
              <a:defRPr sz="1200" dirty="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00" y="0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t" anchorCtr="0" compatLnSpc="1">
            <a:prstTxWarp prst="textNoShape">
              <a:avLst/>
            </a:prstTxWarp>
          </a:bodyPr>
          <a:lstStyle>
            <a:lvl1pPr algn="r" defTabSz="956930" eaLnBrk="0" hangingPunct="0">
              <a:defRPr sz="1200" dirty="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8575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b" anchorCtr="0" compatLnSpc="1">
            <a:prstTxWarp prst="textNoShape">
              <a:avLst/>
            </a:prstTxWarp>
          </a:bodyPr>
          <a:lstStyle>
            <a:lvl1pPr defTabSz="956930" eaLnBrk="0" hangingPunct="0">
              <a:defRPr sz="1200" dirty="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00" y="8918575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b" anchorCtr="0" compatLnSpc="1">
            <a:prstTxWarp prst="textNoShape">
              <a:avLst/>
            </a:prstTxWarp>
          </a:bodyPr>
          <a:lstStyle>
            <a:lvl1pPr algn="r" defTabSz="955675" eaLnBrk="0" hangingPunct="0">
              <a:defRPr sz="120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fld id="{12AC9BEF-FAF3-4BD4-AFDC-D861AB823C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274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t" anchorCtr="0" compatLnSpc="1">
            <a:prstTxWarp prst="textNoShape">
              <a:avLst/>
            </a:prstTxWarp>
          </a:bodyPr>
          <a:lstStyle>
            <a:lvl1pPr defTabSz="956930" eaLnBrk="0" hangingPunct="0">
              <a:defRPr sz="1200" dirty="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900" y="0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t" anchorCtr="0" compatLnSpc="1">
            <a:prstTxWarp prst="textNoShape">
              <a:avLst/>
            </a:prstTxWarp>
          </a:bodyPr>
          <a:lstStyle>
            <a:lvl1pPr algn="r" defTabSz="956930" eaLnBrk="0" hangingPunct="0">
              <a:defRPr sz="1200" dirty="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1263" y="703263"/>
            <a:ext cx="4687887" cy="35163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68363" y="4432300"/>
            <a:ext cx="5208587" cy="423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8575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b" anchorCtr="0" compatLnSpc="1">
            <a:prstTxWarp prst="textNoShape">
              <a:avLst/>
            </a:prstTxWarp>
          </a:bodyPr>
          <a:lstStyle>
            <a:lvl1pPr defTabSz="956930" eaLnBrk="0" hangingPunct="0">
              <a:defRPr sz="1200" dirty="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900" y="8918575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42" tIns="47552" rIns="96742" bIns="47552" numCol="1" anchor="b" anchorCtr="0" compatLnSpc="1">
            <a:prstTxWarp prst="textNoShape">
              <a:avLst/>
            </a:prstTxWarp>
          </a:bodyPr>
          <a:lstStyle>
            <a:lvl1pPr algn="r" defTabSz="955675" eaLnBrk="0" hangingPunct="0">
              <a:defRPr sz="1200">
                <a:latin typeface="Times New Roman" charset="0"/>
                <a:ea typeface="Geneva" charset="-128"/>
                <a:cs typeface="+mn-cs"/>
              </a:defRPr>
            </a:lvl1pPr>
          </a:lstStyle>
          <a:p>
            <a:pPr>
              <a:defRPr/>
            </a:pPr>
            <a:fld id="{EBDA8BBB-35B8-481E-B7D2-91BD68158ED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4413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Geneva" charset="-128"/>
        <a:cs typeface="Geneva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Geneva" charset="-128"/>
        <a:cs typeface="Geneva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Geneva" charset="-128"/>
        <a:cs typeface="Geneva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Geneva" charset="-128"/>
        <a:cs typeface="Geneva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Geneva" charset="-128"/>
        <a:cs typeface="Geneva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FF22E8-D748-42A1-A723-25147A9FF01F}" type="slidenum">
              <a:rPr lang="en-US" altLang="en-US" smtClean="0">
                <a:latin typeface="Times New Roman" pitchFamily="18" charset="0"/>
                <a:ea typeface="Geneva"/>
                <a:cs typeface="Geneva"/>
              </a:rPr>
              <a:pPr/>
              <a:t>1</a:t>
            </a:fld>
            <a:endParaRPr lang="en-US" altLang="en-US" dirty="0" smtClean="0">
              <a:latin typeface="Times New Roman" pitchFamily="18" charset="0"/>
              <a:ea typeface="Geneva"/>
              <a:cs typeface="Geneva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 dirty="0" smtClean="0">
              <a:ea typeface="Genev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 userDrawn="1"/>
        </p:nvSpPr>
        <p:spPr bwMode="auto">
          <a:xfrm>
            <a:off x="1219200" y="2667000"/>
            <a:ext cx="6705600" cy="3505200"/>
          </a:xfrm>
          <a:prstGeom prst="rect">
            <a:avLst/>
          </a:prstGeom>
          <a:noFill/>
          <a:ln w="19050">
            <a:solidFill>
              <a:srgbClr val="1974C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Geneva" charset="-128"/>
              </a:defRPr>
            </a:lvl9pPr>
          </a:lstStyle>
          <a:p>
            <a:pPr eaLnBrk="1" hangingPunct="1">
              <a:defRPr/>
            </a:pPr>
            <a:endParaRPr lang="en-US" altLang="en-US" dirty="0">
              <a:cs typeface="+mn-cs"/>
            </a:endParaRPr>
          </a:p>
        </p:txBody>
      </p:sp>
      <p:pic>
        <p:nvPicPr>
          <p:cNvPr id="5" name="Picture 15" descr="ppt_opener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1265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1223963" y="3724275"/>
            <a:ext cx="6692900" cy="838200"/>
          </a:xfrm>
          <a:effectLst/>
        </p:spPr>
        <p:txBody>
          <a:bodyPr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1266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307013"/>
            <a:ext cx="6400800" cy="5334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342" y="708264"/>
            <a:ext cx="8524875" cy="388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905" y="1534948"/>
            <a:ext cx="8613775" cy="4279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200" y="2346325"/>
            <a:ext cx="4230688" cy="4279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3288" y="2346325"/>
            <a:ext cx="4230687" cy="4279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9263" y="1611313"/>
            <a:ext cx="2155825" cy="501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0200" y="1611313"/>
            <a:ext cx="6316663" cy="501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23875" y="711013"/>
            <a:ext cx="85248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0988" y="1525401"/>
            <a:ext cx="8613775" cy="427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158875"/>
            <a:ext cx="914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0" y="6562725"/>
            <a:ext cx="9144000" cy="2698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algn="l" eaLnBrk="0" hangingPunct="0"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 eaLnBrk="0" hangingPunct="0"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 eaLnBrk="0" hangingPunct="0"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 eaLnBrk="0" hangingPunct="0"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 eaLnBrk="0" hangingPunct="0"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485063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sz="1000" dirty="0">
                <a:latin typeface="Arial" pitchFamily="34" charset="0"/>
                <a:ea typeface="Geneva" charset="-128"/>
                <a:cs typeface="Arial" pitchFamily="34" charset="0"/>
              </a:rPr>
              <a:t>Copyright © </a:t>
            </a:r>
            <a:r>
              <a:rPr lang="en-US" sz="1000" dirty="0" smtClean="0">
                <a:latin typeface="Arial" pitchFamily="34" charset="0"/>
                <a:ea typeface="Geneva" charset="-128"/>
                <a:cs typeface="Arial" pitchFamily="34" charset="0"/>
              </a:rPr>
              <a:t>2022 </a:t>
            </a:r>
            <a:r>
              <a:rPr lang="en-US" sz="1000" dirty="0">
                <a:latin typeface="Arial" pitchFamily="34" charset="0"/>
                <a:ea typeface="Geneva" charset="-128"/>
                <a:cs typeface="Arial" pitchFamily="34" charset="0"/>
              </a:rPr>
              <a:t>Wolters Kluwer · All Rights Reserved</a:t>
            </a:r>
          </a:p>
        </p:txBody>
      </p:sp>
      <p:pic>
        <p:nvPicPr>
          <p:cNvPr id="1030" name="Picture 14" descr="WK_CMYK.jpg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457200" y="6600825"/>
            <a:ext cx="131762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2" r:id="rId4"/>
    <p:sldLayoutId id="2147483661" r:id="rId5"/>
    <p:sldLayoutId id="2147483660" r:id="rId6"/>
    <p:sldLayoutId id="2147483659" r:id="rId7"/>
    <p:sldLayoutId id="2147483658" r:id="rId8"/>
    <p:sldLayoutId id="2147483657" r:id="rId9"/>
    <p:sldLayoutId id="2147483656" r:id="rId10"/>
    <p:sldLayoutId id="214748365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+mj-lt"/>
          <a:ea typeface="Geneva" charset="-128"/>
          <a:cs typeface="Geneva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  <a:ea typeface="Geneva" charset="-128"/>
          <a:cs typeface="Geneva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  <a:ea typeface="Geneva" charset="-128"/>
          <a:cs typeface="Geneva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  <a:ea typeface="Geneva" charset="-128"/>
          <a:cs typeface="Geneva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  <a:ea typeface="Geneva" charset="-128"/>
          <a:cs typeface="Geneva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86EC4"/>
          </a:solidFill>
          <a:latin typeface="Verdana" pitchFamily="34" charset="0"/>
        </a:defRPr>
      </a:lvl9pPr>
    </p:titleStyle>
    <p:bodyStyle>
      <a:lvl1pPr marL="280988" indent="-280988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Geneva" charset="-128"/>
          <a:cs typeface="Geneva"/>
        </a:defRPr>
      </a:lvl1pPr>
      <a:lvl2pPr marL="862013" indent="-404813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Font typeface="Courier New" pitchFamily="49" charset="0"/>
        <a:buChar char="o"/>
        <a:defRPr sz="2400">
          <a:solidFill>
            <a:schemeClr val="tx1"/>
          </a:solidFill>
          <a:latin typeface="+mn-lt"/>
          <a:ea typeface="Geneva" charset="-128"/>
          <a:cs typeface="Geneva"/>
        </a:defRPr>
      </a:lvl2pPr>
      <a:lvl3pPr marL="1204913" indent="-228600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Geneva" charset="-128"/>
          <a:cs typeface="Geneva"/>
        </a:defRPr>
      </a:lvl3pPr>
      <a:lvl4pPr marL="1600200" indent="-228600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Font typeface="Wingdings" pitchFamily="2" charset="2"/>
        <a:buChar char="Ø"/>
        <a:defRPr sz="2400">
          <a:solidFill>
            <a:schemeClr val="tx1"/>
          </a:solidFill>
          <a:latin typeface="+mn-lt"/>
          <a:ea typeface="Geneva" charset="-128"/>
          <a:cs typeface="Geneva"/>
        </a:defRPr>
      </a:lvl4pPr>
      <a:lvl5pPr marL="2057400" indent="-228600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Char char="•"/>
        <a:defRPr sz="2400">
          <a:solidFill>
            <a:schemeClr val="tx1"/>
          </a:solidFill>
          <a:latin typeface="+mn-lt"/>
          <a:ea typeface="Geneva" charset="-128"/>
          <a:cs typeface="Geneva"/>
        </a:defRPr>
      </a:lvl5pPr>
      <a:lvl6pPr marL="2514600" indent="-2286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Char char="•"/>
        <a:defRPr sz="2200"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Char char="•"/>
        <a:defRPr sz="2200"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Char char="•"/>
        <a:defRPr sz="2200"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ct val="90000"/>
        </a:lnSpc>
        <a:spcBef>
          <a:spcPct val="60000"/>
        </a:spcBef>
        <a:spcAft>
          <a:spcPct val="0"/>
        </a:spcAft>
        <a:buClr>
          <a:srgbClr val="CC9900"/>
        </a:buClr>
        <a:buChar char="•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223963" y="2632234"/>
            <a:ext cx="6692900" cy="2215991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Chapter 25</a:t>
            </a:r>
            <a:b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</a:b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/>
            </a:r>
            <a:b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</a:b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Management of Patients with Complications from Heart Disease</a:t>
            </a:r>
            <a:endParaRPr lang="en-US" sz="3200" dirty="0">
              <a:solidFill>
                <a:srgbClr val="000000"/>
              </a:solidFill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Heart Failure #1</a:t>
            </a:r>
            <a:endParaRPr 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Cardiovascular disease is the leading cause of death in the United States </a:t>
            </a:r>
          </a:p>
          <a:p>
            <a:r>
              <a:rPr lang="en-US" dirty="0" smtClean="0"/>
              <a:t>Heart disease remains a chronic and often progressive condition, associated with serious comorbidities, such as heart failure</a:t>
            </a:r>
          </a:p>
          <a:p>
            <a:r>
              <a:rPr lang="en-US" altLang="en-US" dirty="0" smtClean="0"/>
              <a:t>Heart failure (HF) is a clinical syndrome resulting from structural or functional cardiac </a:t>
            </a:r>
            <a:r>
              <a:rPr lang="en-US" dirty="0" smtClean="0"/>
              <a:t>disorders that impair the ability of a ventricle to fill or eject blood; </a:t>
            </a:r>
            <a:r>
              <a:rPr lang="en-US" altLang="en-US" dirty="0" smtClean="0"/>
              <a:t>the heart is unable to pump enough blood to meet the body’s metabolic demands or needs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Heart Failure #2</a:t>
            </a:r>
            <a:endParaRPr 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term heart failure indicates myocardial disease, in which there is a problem with the contraction of the heart (systolic dysfunction) or filling of the heart (diastolic dysfunction) may cause pulmonary or systemic congestion</a:t>
            </a:r>
          </a:p>
          <a:p>
            <a:r>
              <a:rPr lang="en-US" altLang="en-US" dirty="0" smtClean="0"/>
              <a:t>Some cases are reversible depending on the cause</a:t>
            </a:r>
          </a:p>
          <a:p>
            <a:r>
              <a:rPr lang="en-US" altLang="en-US" dirty="0" smtClean="0"/>
              <a:t>Most HF is a chronic, progressive condition managed with lifestyle changes and medications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Chronic Heart Failure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incidence of HF increases with age</a:t>
            </a:r>
          </a:p>
          <a:p>
            <a:r>
              <a:rPr lang="en-US" altLang="en-US" dirty="0" smtClean="0"/>
              <a:t>Approximately 6 million people in the United States have HF, and 870,000 new cases are diagnosed each year </a:t>
            </a:r>
          </a:p>
          <a:p>
            <a:r>
              <a:rPr lang="en-US" altLang="en-US" dirty="0" smtClean="0"/>
              <a:t>Most common reason for hospitalization of people older than 65 years and the second most common reason for visits to a provider’s office</a:t>
            </a:r>
          </a:p>
          <a:p>
            <a:r>
              <a:rPr lang="en-US" altLang="en-US" dirty="0" smtClean="0"/>
              <a:t>Approximately 20% of patients discharged after treatment for HF are readmitted to the hospital within 30 days and nearly 50% are readmitted to the hospital within 6 months 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Pathophysiology of Heart Failure</a:t>
            </a:r>
            <a:endParaRPr lang="en-US" dirty="0"/>
          </a:p>
        </p:txBody>
      </p:sp>
      <p:pic>
        <p:nvPicPr>
          <p:cNvPr id="20482" name="Content Placeholder 4" descr="This Picture Describes about the Pathophysiology of Heart Failure"/>
          <p:cNvPicPr>
            <a:picLocks noGrp="1" noChangeAspect="1"/>
          </p:cNvPicPr>
          <p:nvPr>
            <p:ph idx="1"/>
          </p:nvPr>
        </p:nvPicPr>
        <p:blipFill>
          <a:blip r:embed="rId2"/>
          <a:srcRect l="-66824" r="-66824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0132"/>
            <a:ext cx="8229600" cy="387798"/>
          </a:xfrm>
        </p:spPr>
        <p:txBody>
          <a:bodyPr/>
          <a:lstStyle/>
          <a:p>
            <a:r>
              <a:rPr lang="en-US" dirty="0"/>
              <a:t>Clinical Manifestations of Heart Failure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940" y="1505617"/>
            <a:ext cx="4040188" cy="639762"/>
          </a:xfrm>
        </p:spPr>
        <p:txBody>
          <a:bodyPr/>
          <a:lstStyle/>
          <a:p>
            <a:r>
              <a:rPr lang="en-US" altLang="en-US" dirty="0">
                <a:ea typeface="Geneva"/>
              </a:rPr>
              <a:t>Right Sided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940" y="2248615"/>
            <a:ext cx="4040188" cy="3951288"/>
          </a:xfrm>
        </p:spPr>
        <p:txBody>
          <a:bodyPr/>
          <a:lstStyle/>
          <a:p>
            <a:r>
              <a:rPr lang="en-US" altLang="en-US" sz="2200" dirty="0">
                <a:ea typeface="Geneva"/>
              </a:rPr>
              <a:t>Viscera and peripheral congestion</a:t>
            </a:r>
          </a:p>
          <a:p>
            <a:r>
              <a:rPr lang="en-US" altLang="en-US" sz="2200" dirty="0">
                <a:ea typeface="Geneva"/>
              </a:rPr>
              <a:t>Jugular venous distention (JVD)</a:t>
            </a:r>
          </a:p>
          <a:p>
            <a:r>
              <a:rPr lang="en-US" altLang="en-US" sz="2200" dirty="0">
                <a:ea typeface="Geneva"/>
              </a:rPr>
              <a:t>Dependent edema</a:t>
            </a:r>
          </a:p>
          <a:p>
            <a:r>
              <a:rPr lang="en-US" altLang="en-US" sz="2200" dirty="0">
                <a:ea typeface="Geneva"/>
              </a:rPr>
              <a:t>Hepatomegaly</a:t>
            </a:r>
          </a:p>
          <a:p>
            <a:r>
              <a:rPr lang="en-US" altLang="en-US" sz="2200" dirty="0">
                <a:ea typeface="Geneva"/>
              </a:rPr>
              <a:t>Ascites</a:t>
            </a:r>
          </a:p>
          <a:p>
            <a:r>
              <a:rPr lang="en-US" altLang="en-US" sz="2200" dirty="0">
                <a:ea typeface="Geneva"/>
              </a:rPr>
              <a:t>Weight </a:t>
            </a:r>
            <a:r>
              <a:rPr lang="en-US" altLang="en-US" sz="2200" dirty="0" smtClean="0">
                <a:ea typeface="Geneva"/>
              </a:rPr>
              <a:t>gain</a:t>
            </a:r>
            <a:endParaRPr lang="en-US" altLang="en-US" sz="2200" dirty="0">
              <a:ea typeface="Geneva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05617"/>
            <a:ext cx="4041775" cy="639762"/>
          </a:xfrm>
        </p:spPr>
        <p:txBody>
          <a:bodyPr/>
          <a:lstStyle/>
          <a:p>
            <a:r>
              <a:rPr lang="en-US" altLang="en-US" dirty="0">
                <a:ea typeface="Geneva"/>
              </a:rPr>
              <a:t>Left Sided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 sz="2200" dirty="0">
                <a:ea typeface="Geneva"/>
              </a:rPr>
              <a:t>Pulmonary congestion, crackles</a:t>
            </a:r>
          </a:p>
          <a:p>
            <a:r>
              <a:rPr lang="en-US" altLang="en-US" sz="2200" dirty="0">
                <a:ea typeface="Geneva"/>
              </a:rPr>
              <a:t>S</a:t>
            </a:r>
            <a:r>
              <a:rPr lang="en-US" altLang="en-US" sz="2200" baseline="-25000" dirty="0">
                <a:ea typeface="Geneva"/>
              </a:rPr>
              <a:t>3</a:t>
            </a:r>
            <a:r>
              <a:rPr lang="en-US" altLang="en-US" sz="2200" dirty="0">
                <a:ea typeface="Geneva"/>
              </a:rPr>
              <a:t> or “ventricular gallop”</a:t>
            </a:r>
          </a:p>
          <a:p>
            <a:r>
              <a:rPr lang="en-US" altLang="en-US" sz="2200" dirty="0">
                <a:ea typeface="Geneva"/>
              </a:rPr>
              <a:t>Dyspnea on exertion (DOE)</a:t>
            </a:r>
          </a:p>
          <a:p>
            <a:r>
              <a:rPr lang="en-US" altLang="en-US" sz="2200" dirty="0">
                <a:ea typeface="Geneva"/>
              </a:rPr>
              <a:t>Low O</a:t>
            </a:r>
            <a:r>
              <a:rPr lang="en-US" altLang="en-US" sz="2200" baseline="-25000" dirty="0">
                <a:ea typeface="Geneva"/>
              </a:rPr>
              <a:t>2</a:t>
            </a:r>
            <a:r>
              <a:rPr lang="en-US" altLang="en-US" sz="2200" dirty="0">
                <a:ea typeface="Geneva"/>
              </a:rPr>
              <a:t> sat</a:t>
            </a:r>
          </a:p>
          <a:p>
            <a:r>
              <a:rPr lang="en-US" altLang="en-US" sz="2200" dirty="0">
                <a:ea typeface="Geneva"/>
              </a:rPr>
              <a:t>Dry, nonproductive cough initially</a:t>
            </a:r>
          </a:p>
          <a:p>
            <a:r>
              <a:rPr lang="en-US" altLang="en-US" sz="2200" dirty="0">
                <a:ea typeface="Geneva"/>
              </a:rPr>
              <a:t>Oliguria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71626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Medical Management of the Patient with Heart Failure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Vary according to the severity of the patient’s condition, comorbidities, and cause </a:t>
            </a:r>
          </a:p>
          <a:p>
            <a:r>
              <a:rPr lang="en-US" altLang="en-US" dirty="0" smtClean="0"/>
              <a:t>Treatment may include</a:t>
            </a:r>
          </a:p>
          <a:p>
            <a:pPr lvl="1"/>
            <a:r>
              <a:rPr lang="en-US" altLang="en-US" dirty="0" smtClean="0"/>
              <a:t>Oral and IV medications</a:t>
            </a:r>
          </a:p>
          <a:p>
            <a:pPr lvl="1"/>
            <a:r>
              <a:rPr lang="en-US" altLang="en-US" dirty="0" smtClean="0"/>
              <a:t>Lifestyle modifications </a:t>
            </a:r>
          </a:p>
          <a:p>
            <a:pPr lvl="1"/>
            <a:r>
              <a:rPr lang="en-US" altLang="en-US" dirty="0" smtClean="0"/>
              <a:t>Supplemental O</a:t>
            </a:r>
            <a:r>
              <a:rPr lang="en-US" altLang="en-US" baseline="-25000" dirty="0" smtClean="0"/>
              <a:t>2</a:t>
            </a:r>
          </a:p>
          <a:p>
            <a:pPr lvl="1"/>
            <a:r>
              <a:rPr lang="en-US" altLang="en-US" dirty="0" smtClean="0"/>
              <a:t>Surgical interventions: ICD and heart transplant</a:t>
            </a:r>
          </a:p>
          <a:p>
            <a:r>
              <a:rPr lang="en-US" altLang="en-US" dirty="0" smtClean="0"/>
              <a:t>Comprehensive education and counseling to patient and family is needed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Medications Used to Treat HF #1</a:t>
            </a:r>
            <a:endParaRPr lang="en-US" dirty="0"/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Diuretics: decreases fluid volume, monitor serum electrolytes</a:t>
            </a:r>
          </a:p>
          <a:p>
            <a:r>
              <a:rPr lang="en-US" altLang="en-US" dirty="0" smtClean="0"/>
              <a:t>Angiotensin-converting enzyme (ACE) inhibitors: vasodilation; diuresis; decreases afterload; monitor for hypotension, hyperkalemia, and altered renal function; cough</a:t>
            </a:r>
          </a:p>
          <a:p>
            <a:r>
              <a:rPr lang="en-US" altLang="en-US" dirty="0" smtClean="0"/>
              <a:t>Angiotensin II receptor blockers: prescribed as an alternative to ACE inhibitors; work similarly</a:t>
            </a:r>
          </a:p>
          <a:p>
            <a:r>
              <a:rPr lang="en-US" altLang="en-US" dirty="0" smtClean="0"/>
              <a:t>Beta-blockers: prescribed in addition to ACE inhibitors; may be several weeks before effects seen; use with caution in patients with asthma</a:t>
            </a:r>
          </a:p>
          <a:p>
            <a:endParaRPr lang="en-US" alt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Medications Used to Treat HF #2</a:t>
            </a:r>
            <a:endParaRPr lang="en-US" dirty="0"/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Ivabradine: decreases rate of conduction through the SA node; observe for decrease HR and BP</a:t>
            </a:r>
          </a:p>
          <a:p>
            <a:r>
              <a:rPr lang="en-US" altLang="en-US" dirty="0" smtClean="0"/>
              <a:t>Hydralazine and isosorbide dinitrate: alternative to ACE inhibitors; </a:t>
            </a:r>
            <a:r>
              <a:rPr lang="en-US" dirty="0" smtClean="0"/>
              <a:t>observe for decreased BP </a:t>
            </a:r>
          </a:p>
          <a:p>
            <a:r>
              <a:rPr lang="en-US" altLang="en-US" dirty="0" smtClean="0"/>
              <a:t>Digitalis: improves contractility; monitor for digitalis toxicity especially if patient is hypokalemic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/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Medications Used to Treat HF #3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200" dirty="0" smtClean="0"/>
              <a:t>IV medications: indicated for hospitalized patients admitted for acute decompensated HF</a:t>
            </a:r>
          </a:p>
          <a:p>
            <a:pPr lvl="1"/>
            <a:r>
              <a:rPr lang="en-US" altLang="en-US" sz="2200" dirty="0" smtClean="0"/>
              <a:t>Dopamine: vasopressor to increase BP and myocardial contractility; adjunct with loop diuretics</a:t>
            </a:r>
          </a:p>
          <a:p>
            <a:pPr lvl="1"/>
            <a:r>
              <a:rPr lang="en-US" altLang="en-US" sz="2200" dirty="0" smtClean="0"/>
              <a:t>Dobutamine: used for patients with left ventricular dysfunction; increases cardiac contractility and renal perfusion</a:t>
            </a:r>
          </a:p>
          <a:p>
            <a:pPr lvl="1"/>
            <a:r>
              <a:rPr lang="en-US" altLang="en-US" sz="2200" dirty="0" smtClean="0"/>
              <a:t>Milrinone: decreases preload and afterload; causes hypotension and increased risk of dysrhythmias</a:t>
            </a:r>
          </a:p>
          <a:p>
            <a:pPr lvl="1"/>
            <a:r>
              <a:rPr lang="en-US" altLang="en-US" sz="2200" dirty="0" smtClean="0"/>
              <a:t>Vasodilators: IV nitro, nitroprusside, nesiritide; enhance symptom relief 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Gerontologic Considerations</a:t>
            </a:r>
            <a:endParaRPr lang="en-US" dirty="0"/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May present with atypical signs and symptoms such as fatigue, weakness, and somnolence</a:t>
            </a:r>
          </a:p>
          <a:p>
            <a:r>
              <a:rPr lang="en-US" altLang="en-US" dirty="0" smtClean="0"/>
              <a:t>Decreased renal function can make older patients resistant to diuretics and more sensitive to changes in volume</a:t>
            </a:r>
          </a:p>
          <a:p>
            <a:r>
              <a:rPr lang="en-US" altLang="en-US" dirty="0" smtClean="0"/>
              <a:t>Administration of diuretics to older men requires nursing surveillance for bladder distention caused by urethral obstruction from an enlarged prostate gland 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#1</a:t>
            </a:r>
            <a:endParaRPr 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Which classification of medications play a pivotal role in the management of HF caused by systolic dysfunction?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ACE inhibitors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Beta-blockers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Diuretics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Digitalis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 to Question #1</a:t>
            </a:r>
            <a:endParaRPr lang="en-US" dirty="0"/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2"/>
                </a:solidFill>
              </a:rPr>
              <a:t>A. </a:t>
            </a:r>
            <a:r>
              <a:rPr lang="en-US" dirty="0" smtClean="0"/>
              <a:t>ACE inhibitors</a:t>
            </a:r>
          </a:p>
          <a:p>
            <a:pPr marL="0" indent="0">
              <a:buNone/>
            </a:pPr>
            <a:r>
              <a:rPr lang="en-US" dirty="0" smtClean="0"/>
              <a:t>Rationale: ACE inhibitors play a pivotal role in the management of HF caused by systolic dysfunction. They slow the progression of HF, improve exercise tolerance, and decrease the number of hospitalizations in patients with HFrEF. </a:t>
            </a:r>
            <a:endParaRPr lang="en-US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 of the Patient with Heart Failure</a:t>
            </a:r>
            <a:endParaRPr lang="en-US" dirty="0"/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200" dirty="0" smtClean="0"/>
              <a:t>Focus</a:t>
            </a:r>
          </a:p>
          <a:p>
            <a:pPr lvl="1"/>
            <a:r>
              <a:rPr lang="en-US" altLang="en-US" sz="2200" dirty="0" smtClean="0"/>
              <a:t>Effectiveness of therapy</a:t>
            </a:r>
          </a:p>
          <a:p>
            <a:pPr lvl="1"/>
            <a:r>
              <a:rPr lang="en-US" altLang="en-US" sz="2200" dirty="0" smtClean="0"/>
              <a:t>Patient’s self-management </a:t>
            </a:r>
          </a:p>
          <a:p>
            <a:pPr lvl="1"/>
            <a:r>
              <a:rPr lang="en-US" altLang="en-US" sz="2200" dirty="0" smtClean="0"/>
              <a:t>S&amp;S of increased HF</a:t>
            </a:r>
          </a:p>
          <a:p>
            <a:pPr lvl="1"/>
            <a:r>
              <a:rPr lang="en-US" altLang="en-US" sz="2200" dirty="0" smtClean="0"/>
              <a:t>Emotional or psychosocial response</a:t>
            </a:r>
          </a:p>
          <a:p>
            <a:r>
              <a:rPr lang="en-US" altLang="en-US" sz="2200" dirty="0" smtClean="0"/>
              <a:t>Health history</a:t>
            </a:r>
          </a:p>
          <a:p>
            <a:r>
              <a:rPr lang="en-US" altLang="en-US" sz="2200" dirty="0" smtClean="0"/>
              <a:t>PE</a:t>
            </a:r>
          </a:p>
          <a:p>
            <a:pPr lvl="1"/>
            <a:r>
              <a:rPr lang="en-US" altLang="en-US" sz="2200" dirty="0" smtClean="0"/>
              <a:t>Mental status; lung sounds: crackles and wheezes; heart sounds: S</a:t>
            </a:r>
            <a:r>
              <a:rPr lang="en-US" altLang="en-US" sz="2200" baseline="-25000" dirty="0" smtClean="0"/>
              <a:t>3</a:t>
            </a:r>
            <a:r>
              <a:rPr lang="en-US" altLang="en-US" sz="2200" dirty="0" smtClean="0"/>
              <a:t>; fluid status or signs of fluid overload; daily weight and I&amp;O; assess responses to medications</a:t>
            </a:r>
          </a:p>
          <a:p>
            <a:pPr lvl="1"/>
            <a:endParaRPr lang="en-US" altLang="en-US" sz="2200" dirty="0" smtClean="0"/>
          </a:p>
          <a:p>
            <a:endParaRPr lang="en-US" altLang="en-US" sz="22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Collaborative Problems and Potential Complications of the Patient with HF</a:t>
            </a:r>
            <a:endParaRPr 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Pulmonary edema</a:t>
            </a:r>
          </a:p>
          <a:p>
            <a:r>
              <a:rPr lang="en-US" altLang="en-US" dirty="0" smtClean="0"/>
              <a:t>Hypotension, poor perfusion, and cardiogenic shock (see Chapter 11)</a:t>
            </a:r>
          </a:p>
          <a:p>
            <a:r>
              <a:rPr lang="en-US" altLang="en-US" dirty="0" smtClean="0"/>
              <a:t>Arrhythmias (see Chapter 22)</a:t>
            </a:r>
          </a:p>
          <a:p>
            <a:r>
              <a:rPr lang="en-US" altLang="en-US" dirty="0" smtClean="0"/>
              <a:t>Thromboembolism (see Chapter 26)</a:t>
            </a:r>
          </a:p>
          <a:p>
            <a:r>
              <a:rPr lang="en-US" altLang="en-US" dirty="0" smtClean="0"/>
              <a:t>Pericardial effusion </a:t>
            </a:r>
          </a:p>
          <a:p>
            <a:endParaRPr lang="en-US" altLang="en-US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and Goals for the Patient With Heart Failure</a:t>
            </a:r>
            <a:endParaRPr lang="en-US" dirty="0"/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Goals</a:t>
            </a:r>
          </a:p>
          <a:p>
            <a:pPr lvl="1"/>
            <a:r>
              <a:rPr lang="en-US" altLang="en-US" dirty="0" smtClean="0"/>
              <a:t>Promote activity and reduce fatigue</a:t>
            </a:r>
          </a:p>
          <a:p>
            <a:pPr lvl="1"/>
            <a:r>
              <a:rPr lang="en-US" altLang="en-US" dirty="0" smtClean="0"/>
              <a:t>Relieve fluid overload symptoms</a:t>
            </a:r>
          </a:p>
          <a:p>
            <a:pPr lvl="1"/>
            <a:r>
              <a:rPr lang="en-US" altLang="en-US" dirty="0" smtClean="0"/>
              <a:t>Decrease anxiety or increase the patient’s ability to manage anxiety</a:t>
            </a:r>
          </a:p>
          <a:p>
            <a:pPr lvl="1"/>
            <a:r>
              <a:rPr lang="en-US" altLang="en-US" dirty="0" smtClean="0"/>
              <a:t>Encourage the patient to verbalize his or her ability to make decisions and influence outcomes</a:t>
            </a:r>
          </a:p>
          <a:p>
            <a:pPr lvl="1"/>
            <a:r>
              <a:rPr lang="en-US" altLang="en-US" dirty="0" smtClean="0"/>
              <a:t>Educate the patient and family about management of the therapeutic regimen 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Nursing Interventions for the Patient with Heart Failure #1</a:t>
            </a:r>
            <a:endParaRPr 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1905" y="1402216"/>
            <a:ext cx="8613775" cy="4279900"/>
          </a:xfrm>
        </p:spPr>
        <p:txBody>
          <a:bodyPr/>
          <a:lstStyle/>
          <a:p>
            <a:r>
              <a:rPr lang="en-US" altLang="en-US" sz="2200" dirty="0" smtClean="0"/>
              <a:t>Promote activity tolerance</a:t>
            </a:r>
          </a:p>
          <a:p>
            <a:pPr lvl="1"/>
            <a:r>
              <a:rPr lang="en-US" altLang="en-US" sz="2200" dirty="0" smtClean="0"/>
              <a:t>Bed rest for acute exacerbations</a:t>
            </a:r>
          </a:p>
          <a:p>
            <a:pPr lvl="1"/>
            <a:r>
              <a:rPr lang="en-US" altLang="en-US" sz="2200" dirty="0" smtClean="0"/>
              <a:t>Encourage regular physical activity; build up to about 30 minutes daily </a:t>
            </a:r>
          </a:p>
          <a:p>
            <a:pPr lvl="1"/>
            <a:r>
              <a:rPr lang="en-US" altLang="en-US" sz="2200" dirty="0" smtClean="0"/>
              <a:t>Exercise training </a:t>
            </a:r>
          </a:p>
          <a:p>
            <a:pPr lvl="1"/>
            <a:r>
              <a:rPr lang="en-US" altLang="en-US" sz="2200" dirty="0" smtClean="0"/>
              <a:t>Pacing of activities; wait 2 hours after eating for physical activity </a:t>
            </a:r>
          </a:p>
          <a:p>
            <a:pPr lvl="1"/>
            <a:r>
              <a:rPr lang="en-US" altLang="en-US" sz="2200" dirty="0" smtClean="0"/>
              <a:t>Avoid activities in extreme hot, cold, or humid weather </a:t>
            </a:r>
          </a:p>
          <a:p>
            <a:pPr lvl="1"/>
            <a:r>
              <a:rPr lang="en-US" altLang="en-US" sz="2200" dirty="0" smtClean="0"/>
              <a:t>Modify activities to conserve energy</a:t>
            </a:r>
          </a:p>
          <a:p>
            <a:pPr lvl="1"/>
            <a:r>
              <a:rPr lang="en-US" altLang="en-US" sz="2200" dirty="0" smtClean="0"/>
              <a:t>Positioning; elevation of the head of bed to facilitate breathing and rest, support of arms </a:t>
            </a:r>
            <a:endParaRPr lang="en-US" altLang="en-US" sz="2200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Nursing Interventions for the Patient with Heart Failure #2</a:t>
            </a:r>
            <a:endParaRPr lang="en-US" dirty="0"/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Manage fluid volume</a:t>
            </a:r>
          </a:p>
          <a:p>
            <a:pPr lvl="1"/>
            <a:r>
              <a:rPr lang="en-US" altLang="en-US" dirty="0" smtClean="0"/>
              <a:t>Assess for symptoms of fluid overload </a:t>
            </a:r>
          </a:p>
          <a:p>
            <a:pPr lvl="1"/>
            <a:r>
              <a:rPr lang="en-US" altLang="en-US" dirty="0" smtClean="0"/>
              <a:t>Daily weight</a:t>
            </a:r>
          </a:p>
          <a:p>
            <a:pPr lvl="1"/>
            <a:r>
              <a:rPr lang="en-US" altLang="en-US" dirty="0" smtClean="0"/>
              <a:t>I&amp;O </a:t>
            </a:r>
          </a:p>
          <a:p>
            <a:pPr lvl="1"/>
            <a:r>
              <a:rPr lang="en-US" altLang="en-US" dirty="0" smtClean="0"/>
              <a:t>Diuretic therapy; timing of meds</a:t>
            </a:r>
          </a:p>
          <a:p>
            <a:pPr lvl="1"/>
            <a:r>
              <a:rPr lang="en-US" altLang="en-US" dirty="0" smtClean="0"/>
              <a:t>Fluid intake; fluid restriction</a:t>
            </a:r>
          </a:p>
          <a:p>
            <a:pPr lvl="1"/>
            <a:r>
              <a:rPr lang="en-US" altLang="en-US" dirty="0" smtClean="0"/>
              <a:t>Maintenance of sodium restriction</a:t>
            </a:r>
            <a:br>
              <a:rPr lang="en-US" altLang="en-US" dirty="0" smtClean="0"/>
            </a:br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Patient Education for the Patient with Heart Failure</a:t>
            </a:r>
            <a:endParaRPr 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Medications</a:t>
            </a:r>
          </a:p>
          <a:p>
            <a:r>
              <a:rPr lang="en-US" altLang="en-US" dirty="0" smtClean="0"/>
              <a:t>Diet: low-sodium diet and fluid restriction</a:t>
            </a:r>
          </a:p>
          <a:p>
            <a:r>
              <a:rPr lang="en-US" altLang="en-US" dirty="0" smtClean="0"/>
              <a:t>Monitor for signs of excess fluid, hypotension, and symptoms of disease exacerbation, including daily weight</a:t>
            </a:r>
          </a:p>
          <a:p>
            <a:r>
              <a:rPr lang="en-US" altLang="en-US" dirty="0" smtClean="0"/>
              <a:t>Exercise and activity program</a:t>
            </a:r>
          </a:p>
          <a:p>
            <a:r>
              <a:rPr lang="en-US" altLang="en-US" dirty="0" smtClean="0"/>
              <a:t>Stress management</a:t>
            </a:r>
          </a:p>
          <a:p>
            <a:r>
              <a:rPr lang="en-US" altLang="en-US" dirty="0" smtClean="0"/>
              <a:t>Prevention of infection</a:t>
            </a:r>
          </a:p>
          <a:p>
            <a:r>
              <a:rPr lang="en-US" altLang="en-US" dirty="0" smtClean="0"/>
              <a:t>Know how and when to contact health care provider</a:t>
            </a:r>
          </a:p>
          <a:p>
            <a:r>
              <a:rPr lang="en-US" altLang="en-US" dirty="0" smtClean="0"/>
              <a:t>Include family in education </a:t>
            </a:r>
          </a:p>
          <a:p>
            <a:endParaRPr lang="en-US" altLang="en-US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#2</a:t>
            </a:r>
            <a:endParaRPr 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Which of the following is not an appropriate recommendation for an exercise program for the patient with HF? </a:t>
            </a:r>
          </a:p>
          <a:p>
            <a:pPr marL="0" indent="0">
              <a:buNone/>
            </a:pPr>
            <a:endParaRPr lang="en-US" dirty="0" smtClean="0"/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Follow the exercise period with a cool-down activity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High-intensity training will provide the most benefit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Wait 2 hours after eating a meal before performing the physical activity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Begin with low-impact activities such as walking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 to Question #2</a:t>
            </a:r>
            <a:endParaRPr 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2"/>
                </a:solidFill>
              </a:rPr>
              <a:t>B. </a:t>
            </a:r>
            <a:r>
              <a:rPr lang="en-US" dirty="0" smtClean="0"/>
              <a:t>High-intensity training will provide the most benefit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 smtClean="0"/>
              <a:t>Rationale: The primary provider, nurse, and patient should collaborate to develop a schedule that promotes pacing and prioritization of activities. The schedule should alternate activities with periods of rest and avoid having two significant energy-consuming activities occur on the same day or in immediate succession. The patient should  increase the duration of the activity, then the frequency, before increasing the intensity of the activity. 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Pulmonary Edema</a:t>
            </a:r>
            <a:endParaRPr lang="en-US" dirty="0"/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Acute event reflecting a breakdown of physiologic compensatory mechanisms</a:t>
            </a:r>
          </a:p>
          <a:p>
            <a:r>
              <a:rPr lang="en-US" altLang="en-US" dirty="0" smtClean="0"/>
              <a:t>As LV begins to fail, blood backs up into the pulmonary circulation, causing pulmonary interstitial edema</a:t>
            </a:r>
          </a:p>
          <a:p>
            <a:r>
              <a:rPr lang="en-US" altLang="en-US" dirty="0" smtClean="0"/>
              <a:t>Results in hypoxemia, often severe</a:t>
            </a:r>
          </a:p>
          <a:p>
            <a:r>
              <a:rPr lang="en-US" altLang="en-US" dirty="0" smtClean="0"/>
              <a:t>Clinical manifestations: restlessness, anxiety, tachypnea, dyspnea, cool and clammy skin, cyanosis, weak and rapid pulse, cough, lung congestion (moist, noisy respirations), increased sputum production (sputum may be frothy and blood tinged), decreased level of consciousness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 of Pulmonary Edema</a:t>
            </a:r>
            <a:endParaRPr lang="en-US" dirty="0"/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Easier to prevent than to treat</a:t>
            </a:r>
          </a:p>
          <a:p>
            <a:r>
              <a:rPr lang="en-US" altLang="en-US" dirty="0" smtClean="0"/>
              <a:t>Early recognition: monitor lung sounds and for signs of decreased activity tolerance and increased fluid retention</a:t>
            </a:r>
          </a:p>
          <a:p>
            <a:r>
              <a:rPr lang="en-US" altLang="en-US" dirty="0" smtClean="0"/>
              <a:t>Minimize exertion and stress </a:t>
            </a:r>
          </a:p>
          <a:p>
            <a:r>
              <a:rPr lang="en-US" altLang="en-US" dirty="0" smtClean="0"/>
              <a:t>Oxygen; nonrebreather</a:t>
            </a:r>
          </a:p>
          <a:p>
            <a:r>
              <a:rPr lang="en-US" altLang="en-US" dirty="0" smtClean="0"/>
              <a:t>Medications </a:t>
            </a:r>
          </a:p>
          <a:p>
            <a:pPr lvl="1"/>
            <a:r>
              <a:rPr lang="en-US" altLang="en-US" dirty="0" smtClean="0"/>
              <a:t>Diuretics (furosemide), vasodilators (nitroglycerin)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Nursing Interventions for the Patient with Pulmonary Edema</a:t>
            </a:r>
            <a:endParaRPr lang="en-US" dirty="0"/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Positioning the patient to promote circulation</a:t>
            </a:r>
          </a:p>
          <a:p>
            <a:pPr lvl="1"/>
            <a:r>
              <a:rPr lang="en-US" altLang="en-US" dirty="0" smtClean="0"/>
              <a:t>Positioned upright with legs dangling</a:t>
            </a:r>
          </a:p>
          <a:p>
            <a:r>
              <a:rPr lang="en-US" altLang="en-US" dirty="0" smtClean="0"/>
              <a:t>Providing psychological support</a:t>
            </a:r>
          </a:p>
          <a:p>
            <a:pPr lvl="1"/>
            <a:r>
              <a:rPr lang="en-US" altLang="en-US" dirty="0" smtClean="0"/>
              <a:t>Reassure patient and provide anticipatory care</a:t>
            </a:r>
          </a:p>
          <a:p>
            <a:r>
              <a:rPr lang="en-US" altLang="en-US" dirty="0" smtClean="0"/>
              <a:t>Monitoring medications</a:t>
            </a:r>
          </a:p>
          <a:p>
            <a:pPr lvl="1"/>
            <a:r>
              <a:rPr lang="en-US" altLang="en-US" dirty="0" smtClean="0"/>
              <a:t>I&amp;O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End-of-Life Considerations</a:t>
            </a:r>
            <a:endParaRPr lang="en-US" dirty="0"/>
          </a:p>
        </p:txBody>
      </p:sp>
      <p:sp>
        <p:nvSpPr>
          <p:cNvPr id="409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HF is a chronic and often progressive condition</a:t>
            </a:r>
          </a:p>
          <a:p>
            <a:pPr lvl="1"/>
            <a:r>
              <a:rPr lang="en-US" altLang="en-US" dirty="0" smtClean="0"/>
              <a:t>Need to consider issues related to the end of life</a:t>
            </a:r>
          </a:p>
          <a:p>
            <a:pPr lvl="1"/>
            <a:r>
              <a:rPr lang="en-US" altLang="en-US" dirty="0" smtClean="0"/>
              <a:t>When palliative or hospice care should be considered 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Cardiogenic Shock</a:t>
            </a:r>
            <a:endParaRPr lang="en-US" dirty="0"/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A life-threatening condition with a high mortality rate</a:t>
            </a:r>
          </a:p>
          <a:p>
            <a:r>
              <a:rPr lang="en-US" altLang="en-US" dirty="0" smtClean="0"/>
              <a:t>Decreased CO leads to inadequate tissue perfusion and initiation of shock syndrome</a:t>
            </a:r>
          </a:p>
          <a:p>
            <a:r>
              <a:rPr lang="en-US" dirty="0" smtClean="0"/>
              <a:t>Commonly occurs following acute MI when a large area of myocardium becomes ischemic and hypokinetic</a:t>
            </a:r>
          </a:p>
          <a:p>
            <a:r>
              <a:rPr lang="en-US" dirty="0" smtClean="0"/>
              <a:t>Can occur as a result of end-stage HF, cardiac tamponade, pulmonary embolism (PE), cardiomyopathy, and arrhythmias</a:t>
            </a:r>
            <a:endParaRPr lang="en-US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Thromboembolism</a:t>
            </a:r>
            <a:endParaRPr lang="en-US" dirty="0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Patients with cardiovascular disorders are at risk for the development of arterial thromboemboli and venous thromboemboli (VTE) </a:t>
            </a:r>
          </a:p>
          <a:p>
            <a:r>
              <a:rPr lang="en-US" altLang="en-US" dirty="0" smtClean="0"/>
              <a:t>Decreased mobility and circulation increase the risk for thromboembolism in patients with cardiac disorders, including those with HF</a:t>
            </a:r>
          </a:p>
          <a:p>
            <a:r>
              <a:rPr lang="en-US" dirty="0" smtClean="0"/>
              <a:t>Intracardiac thrombi can form in patients with atrial fibrillation because the atria do not contract forcefully, and increasing the likelihood of thrombus formation </a:t>
            </a:r>
          </a:p>
          <a:p>
            <a:r>
              <a:rPr lang="en-US" altLang="en-US" dirty="0" smtClean="0"/>
              <a:t>Pulmonary embolism: blood clot from the legs moves to obstruct the pulmonary vessels</a:t>
            </a:r>
          </a:p>
          <a:p>
            <a:pPr lvl="1"/>
            <a:endParaRPr lang="en-US" altLang="en-US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Pericardial Effusion and Cardiac Tamponade</a:t>
            </a:r>
            <a:endParaRPr lang="en-US" dirty="0"/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Pericardial effusion is the accumulation of fluid in the pericardial sac</a:t>
            </a:r>
          </a:p>
          <a:p>
            <a:r>
              <a:rPr lang="en-US" altLang="en-US" dirty="0" smtClean="0"/>
              <a:t>Cardiac tamponade is the restriction of heart function because of this fluid, resulting in decreased venous return and decreased CO</a:t>
            </a:r>
          </a:p>
          <a:p>
            <a:r>
              <a:rPr lang="en-US" altLang="en-US" dirty="0" smtClean="0"/>
              <a:t>Clinical manifestations: ill-defined chest pain or fullness, pulsus paradoxus, engorged neck veins, labile or low BP, shortness of breath</a:t>
            </a:r>
          </a:p>
          <a:p>
            <a:r>
              <a:rPr lang="en-US" altLang="en-US" dirty="0" smtClean="0"/>
              <a:t>Cardinal signs of cardiac tamponade: falling systolic BP, narrowing pulse pressure, rising venous pressure, distant heart sounds</a:t>
            </a:r>
            <a:br>
              <a:rPr lang="en-US" altLang="en-US" dirty="0" smtClean="0"/>
            </a:br>
            <a:endParaRPr lang="en-US" altLang="en-US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 Findings in Cardiac Tamponade </a:t>
            </a:r>
            <a:endParaRPr lang="en-US" dirty="0"/>
          </a:p>
        </p:txBody>
      </p:sp>
      <p:pic>
        <p:nvPicPr>
          <p:cNvPr id="45058" name="Content Placeholder 6" descr="This Picture Describes about the Assessment Findings in Cardiac Tamponade "/>
          <p:cNvPicPr>
            <a:picLocks noGrp="1" noChangeAspect="1"/>
          </p:cNvPicPr>
          <p:nvPr>
            <p:ph idx="1"/>
          </p:nvPr>
        </p:nvPicPr>
        <p:blipFill>
          <a:blip r:embed="rId2"/>
          <a:srcRect l="-66818" r="-66818"/>
          <a:stretch>
            <a:fillRect/>
          </a:stretch>
        </p:blipFill>
        <p:spPr>
          <a:xfrm>
            <a:off x="1278533" y="1789348"/>
            <a:ext cx="7120335" cy="3771429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Medical Management of Pericardial Effusion and Cardiac Tamponade</a:t>
            </a:r>
            <a:endParaRPr lang="en-US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Pericardiocentesis</a:t>
            </a:r>
          </a:p>
          <a:p>
            <a:pPr lvl="1"/>
            <a:r>
              <a:rPr lang="en-US" altLang="en-US" dirty="0" smtClean="0"/>
              <a:t>Puncture of the pericardial sac to aspirate pericardial fluid</a:t>
            </a:r>
          </a:p>
          <a:p>
            <a:r>
              <a:rPr lang="en-US" altLang="en-US" dirty="0" smtClean="0"/>
              <a:t>Pericardiotomy</a:t>
            </a:r>
          </a:p>
          <a:p>
            <a:pPr lvl="1"/>
            <a:r>
              <a:rPr lang="en-US" altLang="en-US" dirty="0" smtClean="0"/>
              <a:t>Under general anesthesia, a portion of the pericardium is excised to permit the exudative pericardial fluid to drain into the lymphatic system</a:t>
            </a:r>
          </a:p>
          <a:p>
            <a:endParaRPr lang="en-US" altLang="en-US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Sudden Cardiac Death or Cardiac Arrest</a:t>
            </a:r>
            <a:endParaRPr lang="en-US" dirty="0"/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Emergency management: cardiopulmonary resuscitation</a:t>
            </a:r>
          </a:p>
          <a:p>
            <a:pPr lvl="1"/>
            <a:r>
              <a:rPr lang="en-US" altLang="en-US" b="1" dirty="0" smtClean="0"/>
              <a:t>A</a:t>
            </a:r>
            <a:r>
              <a:rPr lang="en-US" altLang="en-US" dirty="0" smtClean="0"/>
              <a:t>: airway</a:t>
            </a:r>
          </a:p>
          <a:p>
            <a:pPr lvl="1"/>
            <a:r>
              <a:rPr lang="en-US" altLang="en-US" b="1" dirty="0" smtClean="0"/>
              <a:t>B</a:t>
            </a:r>
            <a:r>
              <a:rPr lang="en-US" altLang="en-US" dirty="0" smtClean="0"/>
              <a:t>: breathing</a:t>
            </a:r>
          </a:p>
          <a:p>
            <a:pPr lvl="1"/>
            <a:r>
              <a:rPr lang="en-US" altLang="en-US" b="1" dirty="0" smtClean="0"/>
              <a:t>C</a:t>
            </a:r>
            <a:r>
              <a:rPr lang="en-US" altLang="en-US" dirty="0" smtClean="0"/>
              <a:t>: circulation</a:t>
            </a:r>
          </a:p>
          <a:p>
            <a:pPr lvl="1"/>
            <a:r>
              <a:rPr lang="en-US" altLang="en-US" b="1" dirty="0" smtClean="0"/>
              <a:t>D</a:t>
            </a:r>
            <a:r>
              <a:rPr lang="en-US" altLang="en-US" dirty="0" smtClean="0"/>
              <a:t>: defibrillation for VT and VF</a:t>
            </a:r>
            <a:endParaRPr lang="en-US" altLang="en-US" dirty="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#3</a:t>
            </a:r>
            <a:endParaRPr lang="en-US" dirty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is the most reliable sign of cardiac arrest in an adult and child?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Decrease in blood pressure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Absence of brachial pulse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Absence of breathing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Absence of carotid pulse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 to Question #3</a:t>
            </a:r>
            <a:endParaRPr lang="en-US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2"/>
                </a:solidFill>
              </a:rPr>
              <a:t>D. </a:t>
            </a:r>
            <a:r>
              <a:rPr lang="en-US" dirty="0" smtClean="0"/>
              <a:t>Absence of carotid pulse</a:t>
            </a:r>
          </a:p>
          <a:p>
            <a:pPr marL="0" indent="0">
              <a:buNone/>
            </a:pPr>
            <a:r>
              <a:rPr lang="en-US" dirty="0" smtClean="0"/>
              <a:t>Rationale: The most reliable sign of cardiac arrest is the absence of a pulse. In an adult or child, the carotid pulse is assessed. In an infant, the brachial pulse is assessed.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WW TEMPLATE">
  <a:themeElements>
    <a:clrScheme name="">
      <a:dk1>
        <a:srgbClr val="000000"/>
      </a:dk1>
      <a:lt1>
        <a:srgbClr val="FFFFFF"/>
      </a:lt1>
      <a:dk2>
        <a:srgbClr val="006B76"/>
      </a:dk2>
      <a:lt2>
        <a:srgbClr val="000000"/>
      </a:lt2>
      <a:accent1>
        <a:srgbClr val="186EC4"/>
      </a:accent1>
      <a:accent2>
        <a:srgbClr val="CC9900"/>
      </a:accent2>
      <a:accent3>
        <a:srgbClr val="FFFFFF"/>
      </a:accent3>
      <a:accent4>
        <a:srgbClr val="000000"/>
      </a:accent4>
      <a:accent5>
        <a:srgbClr val="ABBADE"/>
      </a:accent5>
      <a:accent6>
        <a:srgbClr val="B98A00"/>
      </a:accent6>
      <a:hlink>
        <a:srgbClr val="FF0000"/>
      </a:hlink>
      <a:folHlink>
        <a:srgbClr val="009900"/>
      </a:folHlink>
    </a:clrScheme>
    <a:fontScheme name="LWW 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WW 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WW TEMPLAT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WW TEMPLAT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WW TEMPLAT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WW 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WW 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WW TEMPLAT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G:\Q299xx.LWW\LWW TEMPLATE.ppt</Template>
  <TotalTime>2509</TotalTime>
  <Words>1638</Words>
  <Application>Microsoft Office PowerPoint</Application>
  <PresentationFormat>On-screen Show (4:3)</PresentationFormat>
  <Paragraphs>185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LWW TEMPLATE</vt:lpstr>
      <vt:lpstr>Chapter 25  Management of Patients with Complications from Heart Disease</vt:lpstr>
      <vt:lpstr>Heart Failure #1</vt:lpstr>
      <vt:lpstr>Heart Failure #2</vt:lpstr>
      <vt:lpstr>Chronic Heart Failure</vt:lpstr>
      <vt:lpstr>Pathophysiology of Heart Failure</vt:lpstr>
      <vt:lpstr>Clinical Manifestations of Heart Failure</vt:lpstr>
      <vt:lpstr>Medical Management of the Patient with Heart Failure</vt:lpstr>
      <vt:lpstr>Medications Used to Treat HF #1</vt:lpstr>
      <vt:lpstr>Medications Used to Treat HF #2</vt:lpstr>
      <vt:lpstr>Medications Used to Treat HF #3</vt:lpstr>
      <vt:lpstr>Gerontologic Considerations</vt:lpstr>
      <vt:lpstr>Question #1</vt:lpstr>
      <vt:lpstr>Answer to Question #1</vt:lpstr>
      <vt:lpstr>Assessment of the Patient with Heart Failure</vt:lpstr>
      <vt:lpstr>Collaborative Problems and Potential Complications of the Patient with HF</vt:lpstr>
      <vt:lpstr>Planning and Goals for the Patient With Heart Failure</vt:lpstr>
      <vt:lpstr>Nursing Interventions for the Patient with Heart Failure #1</vt:lpstr>
      <vt:lpstr>Nursing Interventions for the Patient with Heart Failure #2</vt:lpstr>
      <vt:lpstr>Patient Education for the Patient with Heart Failure</vt:lpstr>
      <vt:lpstr>Question #2</vt:lpstr>
      <vt:lpstr>Answer to Question #2</vt:lpstr>
      <vt:lpstr>Pulmonary Edema</vt:lpstr>
      <vt:lpstr>Management of Pulmonary Edema</vt:lpstr>
      <vt:lpstr>Nursing Interventions for the Patient with Pulmonary Edema</vt:lpstr>
      <vt:lpstr>End-of-Life Considerations</vt:lpstr>
      <vt:lpstr>Cardiogenic Shock</vt:lpstr>
      <vt:lpstr>Thromboembolism</vt:lpstr>
      <vt:lpstr>Pericardial Effusion and Cardiac Tamponade</vt:lpstr>
      <vt:lpstr>Assessment Findings in Cardiac Tamponade </vt:lpstr>
      <vt:lpstr>Medical Management of Pericardial Effusion and Cardiac Tamponade</vt:lpstr>
      <vt:lpstr>Sudden Cardiac Death or Cardiac Arrest</vt:lpstr>
      <vt:lpstr>Question #3</vt:lpstr>
      <vt:lpstr>Answer to Question #3</vt:lpstr>
    </vt:vector>
  </TitlesOfParts>
  <Company>Airgas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25: Management of Patients with Complications from Heart Disease</dc:title>
  <dc:subject>Chapter 30, Management of PAtients With Complications From Heart Disease</dc:subject>
  <dc:creator>Jim Ely/Pamela D. Korte</dc:creator>
  <cp:lastModifiedBy> </cp:lastModifiedBy>
  <cp:revision>140</cp:revision>
  <cp:lastPrinted>2017-03-15T03:15:18Z</cp:lastPrinted>
  <dcterms:created xsi:type="dcterms:W3CDTF">2021-05-19T13:05:39Z</dcterms:created>
  <dcterms:modified xsi:type="dcterms:W3CDTF">2021-06-02T13:06:39Z</dcterms:modified>
</cp:coreProperties>
</file>